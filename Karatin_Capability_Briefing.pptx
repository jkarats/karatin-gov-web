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7f15f675824beb" /><Relationship Type="http://schemas.openxmlformats.org/officeDocument/2006/relationships/extended-properties" Target="/docProps/app.xml" Id="R1ea95957652444cf" /><Relationship Type="http://schemas.openxmlformats.org/officeDocument/2006/relationships/officeDocument" Target="/ppt/presentation.xml" Id="R507b7bac5aa442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6c0ae8013148f0"/>
  </p:sldMasterIdLst>
  <p:notesMasterIdLst>
    <p:notesMasterId xmlns:r="http://schemas.openxmlformats.org/officeDocument/2006/relationships" r:id="R90ebc6edb28b4d69"/>
  </p:notesMasterIdLst>
  <p:sldIdLst>
    <p:sldId xmlns:r="http://schemas.openxmlformats.org/officeDocument/2006/relationships" id="256" r:id="Rc3730fee536a4fff"/>
    <p:sldId xmlns:r="http://schemas.openxmlformats.org/officeDocument/2006/relationships" id="257" r:id="R065f9a007bb84a8d"/>
    <p:sldId xmlns:r="http://schemas.openxmlformats.org/officeDocument/2006/relationships" id="258" r:id="R8870fc830b8f446d"/>
    <p:sldId xmlns:r="http://schemas.openxmlformats.org/officeDocument/2006/relationships" id="259" r:id="R68017e9a7b7f49e6"/>
    <p:sldId xmlns:r="http://schemas.openxmlformats.org/officeDocument/2006/relationships" id="260" r:id="R3bb3c2d6e21f483c"/>
    <p:sldId xmlns:r="http://schemas.openxmlformats.org/officeDocument/2006/relationships" id="261" r:id="Rd69fbf8b27b54c0c"/>
    <p:sldId xmlns:r="http://schemas.openxmlformats.org/officeDocument/2006/relationships" id="262" r:id="R3e9423ef53474cea"/>
    <p:sldId xmlns:r="http://schemas.openxmlformats.org/officeDocument/2006/relationships" id="263" r:id="Rf55cb77b4fe34eb8"/>
    <p:sldId xmlns:r="http://schemas.openxmlformats.org/officeDocument/2006/relationships" id="264" r:id="R2b797e42735948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9aefffb0804664" /><Relationship Type="http://schemas.openxmlformats.org/officeDocument/2006/relationships/slideMaster" Target="/ppt/slideMasters/slideMaster1.xml" Id="Rab6c0ae8013148f0" /><Relationship Type="http://schemas.openxmlformats.org/officeDocument/2006/relationships/notesMaster" Target="/ppt/notesMasters/notesMaster1.xml" Id="R90ebc6edb28b4d69" /><Relationship Type="http://schemas.openxmlformats.org/officeDocument/2006/relationships/presProps" Target="/ppt/presProps.xml" Id="R1a6b186ad6bd4a8a" /><Relationship Type="http://schemas.openxmlformats.org/officeDocument/2006/relationships/tableStyles" Target="/ppt/tableStyles.xml" Id="Rb09be14c3b1b470e" /><Relationship Type="http://schemas.openxmlformats.org/officeDocument/2006/relationships/slide" Target="/ppt/slides/slide1.xml" Id="Rc3730fee536a4fff" /><Relationship Type="http://schemas.openxmlformats.org/officeDocument/2006/relationships/slide" Target="/ppt/slides/slide2.xml" Id="R065f9a007bb84a8d" /><Relationship Type="http://schemas.openxmlformats.org/officeDocument/2006/relationships/slide" Target="/ppt/slides/slide3.xml" Id="R8870fc830b8f446d" /><Relationship Type="http://schemas.openxmlformats.org/officeDocument/2006/relationships/slide" Target="/ppt/slides/slide4.xml" Id="R68017e9a7b7f49e6" /><Relationship Type="http://schemas.openxmlformats.org/officeDocument/2006/relationships/slide" Target="/ppt/slides/slide5.xml" Id="R3bb3c2d6e21f483c" /><Relationship Type="http://schemas.openxmlformats.org/officeDocument/2006/relationships/slide" Target="/ppt/slides/slide6.xml" Id="Rd69fbf8b27b54c0c" /><Relationship Type="http://schemas.openxmlformats.org/officeDocument/2006/relationships/slide" Target="/ppt/slides/slide7.xml" Id="R3e9423ef53474cea" /><Relationship Type="http://schemas.openxmlformats.org/officeDocument/2006/relationships/slide" Target="/ppt/slides/slide8.xml" Id="Rf55cb77b4fe34eb8" /><Relationship Type="http://schemas.openxmlformats.org/officeDocument/2006/relationships/slide" Target="/ppt/slides/slide9.xml" Id="R2b797e42735948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ea76ea547e44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9f1429519842c6" /><Relationship Type="http://schemas.openxmlformats.org/officeDocument/2006/relationships/notesMaster" Target="/ppt/notesMasters/notesMaster1.xml" Id="R45d75000073540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9d35b07b724cce" /><Relationship Type="http://schemas.openxmlformats.org/officeDocument/2006/relationships/notesMaster" Target="/ppt/notesMasters/notesMaster1.xml" Id="R50569a49cbb944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e8c9905ddf46d6" /><Relationship Type="http://schemas.openxmlformats.org/officeDocument/2006/relationships/notesMaster" Target="/ppt/notesMasters/notesMaster1.xml" Id="R5807fa9306f14f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8eea684d3f4392" /><Relationship Type="http://schemas.openxmlformats.org/officeDocument/2006/relationships/notesMaster" Target="/ppt/notesMasters/notesMaster1.xml" Id="Rb9e2bc1179de46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a5d744883b4618" /><Relationship Type="http://schemas.openxmlformats.org/officeDocument/2006/relationships/notesMaster" Target="/ppt/notesMasters/notesMaster1.xml" Id="R5506c94e6cf648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83b5f3690c4483" /><Relationship Type="http://schemas.openxmlformats.org/officeDocument/2006/relationships/notesMaster" Target="/ppt/notesMasters/notesMaster1.xml" Id="Ra6cedcc85963421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9687ab2a1c4656" /><Relationship Type="http://schemas.openxmlformats.org/officeDocument/2006/relationships/notesMaster" Target="/ppt/notesMasters/notesMaster1.xml" Id="Rc4cd703780d640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eded4e0c774d50" /><Relationship Type="http://schemas.openxmlformats.org/officeDocument/2006/relationships/notesMaster" Target="/ppt/notesMasters/notesMaster1.xml" Id="Rf932d27d084c43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c5ba2cdfcd4895" /><Relationship Type="http://schemas.openxmlformats.org/officeDocument/2006/relationships/notesMaster" Target="/ppt/notesMasters/notesMaster1.xml" Id="R6561d790bda94e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f89910ea146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72b35edeae4b6b" /><Relationship Type="http://schemas.openxmlformats.org/officeDocument/2006/relationships/slideLayout" Target="/ppt/slideLayouts/slideLayout1.xml" Id="R16809233c3314a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809233c3314a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179fd491745cb" /><Relationship Type="http://schemas.openxmlformats.org/officeDocument/2006/relationships/image" Target="/ppt/media/image.png" Id="Rf3e3dff6d1904833" /><Relationship Type="http://schemas.openxmlformats.org/officeDocument/2006/relationships/notesSlide" Target="/ppt/notesSlides/notesSlide1.xml" Id="Rb35a6134d0fa4f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49f46de9d4452" /><Relationship Type="http://schemas.openxmlformats.org/officeDocument/2006/relationships/image" Target="/ppt/media/image2.png" Id="R331552d49f314b19" /><Relationship Type="http://schemas.openxmlformats.org/officeDocument/2006/relationships/notesSlide" Target="/ppt/notesSlides/notesSlide2.xml" Id="R4c3535673abd4b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256f82430486b" /><Relationship Type="http://schemas.openxmlformats.org/officeDocument/2006/relationships/image" Target="/ppt/media/image3.png" Id="R593d97f829354e81" /><Relationship Type="http://schemas.openxmlformats.org/officeDocument/2006/relationships/image" Target="/ppt/media/image4.png" Id="R29d072f247a8441b" /><Relationship Type="http://schemas.openxmlformats.org/officeDocument/2006/relationships/notesSlide" Target="/ppt/notesSlides/notesSlide3.xml" Id="Rd03b9657fe29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885cd5fe64890" /><Relationship Type="http://schemas.openxmlformats.org/officeDocument/2006/relationships/image" Target="/ppt/media/image5.png" Id="Rea6c955384b0433c" /><Relationship Type="http://schemas.openxmlformats.org/officeDocument/2006/relationships/image" Target="/ppt/media/image6.png" Id="Rc41a96df017c4f96" /><Relationship Type="http://schemas.openxmlformats.org/officeDocument/2006/relationships/notesSlide" Target="/ppt/notesSlides/notesSlide4.xml" Id="R5ceb989b8bde42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6794efdd94b67" /><Relationship Type="http://schemas.openxmlformats.org/officeDocument/2006/relationships/image" Target="/ppt/media/image7.png" Id="R8e9e72e8ec3c4a9e" /><Relationship Type="http://schemas.openxmlformats.org/officeDocument/2006/relationships/image" Target="/ppt/media/image8.png" Id="R19bd1b2d02d64470" /><Relationship Type="http://schemas.openxmlformats.org/officeDocument/2006/relationships/notesSlide" Target="/ppt/notesSlides/notesSlide5.xml" Id="R447c10fc527847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01cd350c045ac" /><Relationship Type="http://schemas.openxmlformats.org/officeDocument/2006/relationships/image" Target="/ppt/media/image9.png" Id="Rf670f2dd42bb4150" /><Relationship Type="http://schemas.openxmlformats.org/officeDocument/2006/relationships/notesSlide" Target="/ppt/notesSlides/notesSlide6.xml" Id="Rf7052b4798c349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addc32f6d42ec" /><Relationship Type="http://schemas.openxmlformats.org/officeDocument/2006/relationships/image" Target="/ppt/media/image10.png" Id="Rd08d0a0ee11d4a4b" /><Relationship Type="http://schemas.openxmlformats.org/officeDocument/2006/relationships/notesSlide" Target="/ppt/notesSlides/notesSlide7.xml" Id="R21697ada874046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a3af235bd41cc" /><Relationship Type="http://schemas.openxmlformats.org/officeDocument/2006/relationships/image" Target="/ppt/media/image11.png" Id="R7bcbbe0c177a406c" /><Relationship Type="http://schemas.openxmlformats.org/officeDocument/2006/relationships/notesSlide" Target="/ppt/notesSlides/notesSlide8.xml" Id="R7fb9739895a74a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f6e67cf564bd8" /><Relationship Type="http://schemas.openxmlformats.org/officeDocument/2006/relationships/image" Target="/ppt/media/image12.png" Id="R4950c9996ce94b2c" /><Relationship Type="http://schemas.openxmlformats.org/officeDocument/2006/relationships/notesSlide" Target="/ppt/notesSlides/notesSlide9.xml" Id="R82c9a3a7cf924a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9ECCB-E4EA-4A2C-A989-5578E2E1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2FDFF-89BA-425E-93A7-2D104038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409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e3dff6d1904833"/>
          <a:stretch xmlns:a="http://schemas.openxmlformats.org/drawingml/2006/main"/>
        </p:blipFill>
        <p:spPr>
          <a:xfrm xmlns:a="http://schemas.openxmlformats.org/drawingml/2006/main">
            <a:off x="1028700" y="8382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67A122-E9BE-4EA5-B5E3-327AD5A9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85875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DF8"/>
                </a:solidFill>
              </a:defRPr>
            </a:pPr>
            <a:r>
              <a:rPr sz="4350" b="1">
                <a:solidFill>
                  <a:srgbClr val="FFFDF8"/>
                </a:solidFill>
              </a:rPr>
              <a:t>Capability</a:t>
            </a:r>
          </a:p>
          <a:p xmlns:a="http://schemas.openxmlformats.org/drawingml/2006/main">
            <a:pPr algn="l">
              <a:defRPr sz="4350" b="1">
                <a:solidFill>
                  <a:srgbClr val="FFFDF8"/>
                </a:solidFill>
              </a:defRPr>
            </a:pPr>
            <a:r>
              <a:rPr sz="4350" b="1">
                <a:solidFill>
                  <a:srgbClr val="FFFDF8"/>
                </a:solidFill>
              </a:rPr>
              <a:t>Briefing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818B2-8FED-4017-A84B-BD900BE0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432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E772C-7916-4C61-B451-626223FB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76625"/>
            <a:ext cx="609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E9D3"/>
                </a:solidFill>
              </a:defRPr>
            </a:pPr>
            <a:r>
              <a:rPr sz="1875" b="1">
                <a:solidFill>
                  <a:srgbClr val="F4E9D3"/>
                </a:solidFill>
              </a:rPr>
              <a:t>Helping organizations secure sensitive data, meet compliance obligations, and adopt AI responsibly.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879FB-AB00-4FEA-B077-1E1CFFF0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905375"/>
            <a:ext cx="657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Data Security  •  Responsible AI  •  Compliance  •  Training</a:t>
            </a:r>
          </a:p>
        </p:txBody>
      </p:sp>
    </p:spTree>
    <p:extLst>
      <p:ext uri="{BB962C8B-B14F-4D97-AF65-F5344CB8AC3E}">
        <p14:creationId xmlns:p14="http://schemas.microsoft.com/office/powerpoint/2010/main" val="10145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F7C94B-4842-468E-BA3B-00F78590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C1AFE-5352-462E-9135-80498F08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1A714-EED6-4D4B-84E5-3AF0B313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DF8"/>
                </a:solidFill>
              </a:defRPr>
            </a:pPr>
            <a:r>
              <a:rPr sz="2850" b="1">
                <a:solidFill>
                  <a:srgbClr val="FFFDF8"/>
                </a:solidFill>
              </a:rPr>
              <a:t>Introduction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5CA18-1EE8-4740-B550-B3F6C3FF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552d49f314b19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2428F-DE41-496E-A496-C1D374D6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0811D-5029-4AC8-BE76-8D4AEACD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905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DF8"/>
                </a:solidFill>
              </a:defRPr>
            </a:pPr>
            <a:r>
              <a:rPr sz="3150" b="1">
                <a:solidFill>
                  <a:srgbClr val="FFFDF8"/>
                </a:solidFill>
              </a:rPr>
              <a:t>We help organizations protect sensitive data and adopt AI with confidence.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F39C6-9C19-40DD-886C-4AB90728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123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C40F0-A228-429D-AA32-A83A4473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5619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E9D3"/>
                </a:solidFill>
              </a:defRPr>
            </a:pPr>
            <a:r>
              <a:rPr sz="1650" b="0">
                <a:solidFill>
                  <a:srgbClr val="F4E9D3"/>
                </a:solidFill>
              </a:rPr>
              <a:t>Karatin brings data security, compliance, AI governance, and practical training together in one focused engagement.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F5590-8C5E-4721-AE7E-03AADAD7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859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6A83B"/>
                </a:solidFill>
              </a:defRPr>
            </a:pPr>
            <a:r>
              <a:rPr sz="1275" b="1">
                <a:solidFill>
                  <a:srgbClr val="D6A83B"/>
                </a:solidFill>
              </a:rPr>
              <a:t>CORE CAPABILITIES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2EF1E-4DFB-442D-9DD9-5D252F07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6A83B"/>
                </a:solidFill>
              </a:defRPr>
            </a:pPr>
            <a:r>
              <a:rPr sz="1875" b="1">
                <a:solidFill>
                  <a:srgbClr val="D6A83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7B765-EA1C-4863-8F9B-9D6B1814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52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DF8"/>
                </a:solidFill>
              </a:defRPr>
            </a:pPr>
            <a:r>
              <a:rPr sz="1725" b="1">
                <a:solidFill>
                  <a:srgbClr val="FFFDF8"/>
                </a:solidFill>
              </a:rPr>
              <a:t>Data Security &amp; Compliance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FAFC6-82B2-4794-B61F-1C6C18D1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050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Discover, classify, label, protect, and govern sensitive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ACA706-4C64-4237-AA68-3F88EB3B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95600"/>
            <a:ext cx="3600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06CD4-CB08-47E2-9A38-A698C087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1942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6A83B"/>
                </a:solidFill>
              </a:defRPr>
            </a:pPr>
            <a:r>
              <a:rPr sz="1875" b="1">
                <a:solidFill>
                  <a:srgbClr val="D6A83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2EBC8-3F3E-4516-B425-9A191D04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194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DF8"/>
                </a:solidFill>
              </a:defRPr>
            </a:pPr>
            <a:r>
              <a:rPr sz="1725" b="1">
                <a:solidFill>
                  <a:srgbClr val="FFFDF8"/>
                </a:solidFill>
              </a:rPr>
              <a:t>Responsible AI Adoption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694C6-C9A7-4EDB-9A78-660A326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718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Establish readiness, guardrails, accountability, and safe-use practices.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37EF4-071A-462E-83B5-F8135C1A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3600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8E3403-2DB3-4C9B-AAF2-762F60A4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86225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6A83B"/>
                </a:solidFill>
              </a:defRPr>
            </a:pPr>
            <a:r>
              <a:rPr sz="1875" b="1">
                <a:solidFill>
                  <a:srgbClr val="D6A83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279F26-654E-41D4-80BA-F2B0C794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862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DF8"/>
                </a:solidFill>
              </a:defRPr>
            </a:pPr>
            <a:r>
              <a:rPr sz="1725" b="1">
                <a:solidFill>
                  <a:srgbClr val="FFFDF8"/>
                </a:solidFill>
              </a:rPr>
              <a:t>Training &amp; Enablement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89AE87-ED12-4D7B-9E18-35D48AC9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386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Build role-based knowledge that makes secure behavior repeatable.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CFEA7D-31DC-4B81-A193-06431B7C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91125"/>
            <a:ext cx="12192000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81714-AA28-4B87-835E-31748610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BUSINESS PROFILE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8D8D29-2BA9-4245-BC53-09ADCA7E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Small Business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F00682-DE2B-4952-A643-C6FA6F77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429250"/>
            <a:ext cx="95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47305-5406-41BA-B19A-4A0C84FF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91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OWNERSHIP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7AD060-AAED-4735-A0A9-A37C18AB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Women-Owned Business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7F5D2A-DE4D-4336-872E-2C2A81B5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95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DD7216-DD05-4881-AC6F-5AD20F47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911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LOCATION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549AB-BC62-4007-84A7-7026DDF6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2452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Frisco, TX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2A846F-F91A-42B0-BBA8-7CD7F866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29250"/>
            <a:ext cx="95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C84822-6D50-4CBF-8749-21365E0E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391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FOCUS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525B59-FFA4-4E4B-9544-EFCFB9E3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724525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DF8"/>
                </a:solidFill>
              </a:defRPr>
            </a:pPr>
            <a:r>
              <a:rPr sz="1425" b="1">
                <a:solidFill>
                  <a:srgbClr val="FFFDF8"/>
                </a:solidFill>
              </a:rPr>
              <a:t>Data • AI • Compliance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18E16B-9C2B-4602-881B-F377655E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7851B5-F5D2-4468-B0AF-EEC1BA91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341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</p:spTree>
    <p:extLst>
      <p:ext uri="{BB962C8B-B14F-4D97-AF65-F5344CB8AC3E}">
        <p14:creationId xmlns:p14="http://schemas.microsoft.com/office/powerpoint/2010/main" val="2062693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501533-E498-4E5B-A187-7E96F57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69D4E-115B-4C2B-88C9-8BA64C61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06063-0056-4C68-A739-08F6D7E4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Secure the data foundation before expanding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EC7B0-B676-44A7-A9E0-6DA5D9BD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d97f829354e81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A6D0B-38E7-4204-9A07-4E82C2BB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88A07-568F-485C-A6B5-7D7D9D0E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B6C9F-4D3A-4CB0-8A85-15E788FC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CCDB3-E027-441C-8D5B-E2A5AAA5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DATA RISKS AI CAN AMPLIFY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E27E0-65B0-4648-897F-C4BBDE4E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82F44-0BB6-447F-8A30-B3CD6E97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E9D3"/>
                </a:solidFill>
              </a:defRPr>
            </a:pPr>
            <a:r>
              <a:rPr sz="1500" b="0">
                <a:solidFill>
                  <a:srgbClr val="F4E9D3"/>
                </a:solidFill>
              </a:rPr>
              <a:t>Sensitive information may be broadly accessible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86A24-8164-4065-B752-6B422550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D8789-3D2B-4555-A2BE-075082BF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E9D3"/>
                </a:solidFill>
              </a:defRPr>
            </a:pPr>
            <a:r>
              <a:rPr sz="1500" b="0">
                <a:solidFill>
                  <a:srgbClr val="F4E9D3"/>
                </a:solidFill>
              </a:rPr>
              <a:t>Sharing practices may exceed business need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B725BD-8AF6-4CCE-B6F2-924A6BAF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24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5FCE5-13C9-462C-8F2C-CB4FC20C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E9D3"/>
                </a:solidFill>
              </a:defRPr>
            </a:pPr>
            <a:r>
              <a:rPr sz="1500" b="0">
                <a:solidFill>
                  <a:srgbClr val="F4E9D3"/>
                </a:solidFill>
              </a:rPr>
              <a:t>Unstructured data may lack classification or ownership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9289EB-9E3F-484D-91CF-69A5968D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52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EB92A7-4B15-40B7-9BDE-39334093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385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E9D3"/>
                </a:solidFill>
              </a:defRPr>
            </a:pPr>
            <a:r>
              <a:rPr sz="1500" b="0">
                <a:solidFill>
                  <a:srgbClr val="F4E9D3"/>
                </a:solidFill>
              </a:rPr>
              <a:t>Retention and compliance rules may be inconsistently applied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2CC8FE-FB71-4BFB-9967-FF08360B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81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F63A32-CA9C-46DE-BAE0-3DCD9D39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672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E9D3"/>
                </a:solidFill>
              </a:defRPr>
            </a:pPr>
            <a:r>
              <a:rPr sz="1500" b="0">
                <a:solidFill>
                  <a:srgbClr val="F4E9D3"/>
                </a:solidFill>
              </a:rPr>
              <a:t>Employees need clear guidance for responsible AI use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72f247a8441b"/>
          <a:srcRect xmlns:a="http://schemas.openxmlformats.org/drawingml/2006/main" l="10059" t="0" r="100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7D2351-CCA8-491A-A2FD-A5073DE7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A8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AC2D1A-CD33-4588-AE93-735747E1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DF8"/>
                </a:solidFill>
              </a:defRPr>
            </a:pPr>
            <a:r>
              <a:rPr sz="1650" b="1">
                <a:solidFill>
                  <a:srgbClr val="FFFDF8"/>
                </a:solidFill>
              </a:rPr>
              <a:t>Know what data exists, who can access it, and how it should be protected.</a:t>
            </a:r>
          </a:p>
        </p:txBody>
      </p:sp>
    </p:spTree>
    <p:extLst>
      <p:ext uri="{BB962C8B-B14F-4D97-AF65-F5344CB8AC3E}">
        <p14:creationId xmlns:p14="http://schemas.microsoft.com/office/powerpoint/2010/main" val="20252843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E1F7DE-0498-4F17-BC73-E920ED1D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2703B-A21B-4B7C-B3E0-16AABCC4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FB388-54DD-4797-8B16-36CB2CF1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Protect sensitive information throughout its lifecycle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59209-8305-4B75-8B50-DB983C9B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c955384b0433c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39E7BA-789F-4181-BC24-A3A4D704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A75B7-6158-4B59-820E-AC0AD0A6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39CB3-C6C6-4FC2-B0B6-9056EBEC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C6FFF-E732-478F-92AB-CC379CC1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DATA SECURITY &amp; COMPLIANCE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2D921-E93E-452C-A57D-166770C6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DE4BE-21CD-42B2-8CB4-0D344D1B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Sensitive-data discovery and classification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F910B-1DCF-4F6F-9F94-7887F4A4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BCC302-45BC-487A-9F67-F6F1ACE7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050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Information protection, labeling, and handling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F460A-9B06-43B1-9FB8-FE48D93D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7A1BB-5656-4907-8CE5-D914473D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Data Loss Prevention policy design and improvement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6A4F-E9A9-4E72-A5CC-99D11EBF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167D6-B030-405E-91E8-9FC490EE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99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Retention, records, and data-lifecycle management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E7D95-6D7F-4801-8C58-6A09A55F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7C1ADE-ED91-433E-A9FD-B2E66F38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624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Privacy, audit, eDiscovery, and compliance readiness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0094C-61D5-4340-8D4C-D46C216A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9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65D2A7-CBCF-4D21-80C1-C416404B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Risk assessments, control-gap analysis, and remediation 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A0B14D-16E9-49AE-99A6-A1A30265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a96df017c4f96"/>
          <a:srcRect xmlns:a="http://schemas.openxmlformats.org/drawingml/2006/main" l="10059" t="0" r="100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6288B2-A983-4CEE-AC42-FDBB4DB5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A8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487B45-3113-49CE-BCBA-61D8A2C0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Outcome: clearer data ownership, stronger controls, and practical evidence of readiness.</a:t>
            </a:r>
          </a:p>
        </p:txBody>
      </p:sp>
    </p:spTree>
    <p:extLst>
      <p:ext uri="{BB962C8B-B14F-4D97-AF65-F5344CB8AC3E}">
        <p14:creationId xmlns:p14="http://schemas.microsoft.com/office/powerpoint/2010/main" val="1907694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BA525-E3F6-497E-BB31-3919861D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25C8D-56D1-4456-B78B-5A2C6AE2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930C4-99EB-4F49-834A-D13D0239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Adopt AI with governance, guardrails, and confidence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714A4-62BD-44EC-913C-EB4C92CB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e72e8ec3c4a9e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6CE7E-0185-4AE3-9A9D-747F8090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6366C-BAC7-4956-A86B-22CC7EE9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B5C7E-0FAE-436C-842F-B6A33419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436E3A-AEEF-425E-99B9-A839B1B4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RESPONSIBLE AI ADOPTION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154AF-A1DF-4502-816E-1B40C11F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F0240-0ECC-4771-B83C-1CC6425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AI readiness and use-case assessments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A6AB5-53EE-4372-A2E2-1F12796E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6C0BC6-E32D-4AAD-B498-9BC6F5CC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050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Data exposure, oversharing, and permission-risk reviews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393762-D503-4ACE-8951-DF7EB1AF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9F4DB-73B3-4F7E-B9C1-3F7C09AD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AI governance frameworks and acceptable-use policies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1B365-A897-4601-8C0A-0DF7F361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24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F618FF-7024-4E8F-A535-2C522DFD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99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Responsible AI controls, roles, and decision accountability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C54B9F-A0DF-4C14-B720-DDEA5520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9E4AB8-3C95-4E45-BE6A-EA387969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6242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Pilot planning, risk tracking, and adoption guidance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B418A-328D-43A4-AB81-97ECFE20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9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145B9-FD1F-4772-A780-CD1E0F47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592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Ongoing monitoring and governance improvement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d1b2d02d64470"/>
          <a:srcRect xmlns:a="http://schemas.openxmlformats.org/drawingml/2006/main" l="10059" t="0" r="100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E2946C-20E4-45A7-956F-016E7AA6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4191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A8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8960EC-5458-4CC7-BBDB-48496228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Outcome: productivity gains with protected data, clear accountability, and lower risk.</a:t>
            </a:r>
          </a:p>
        </p:txBody>
      </p:sp>
    </p:spTree>
    <p:extLst>
      <p:ext uri="{BB962C8B-B14F-4D97-AF65-F5344CB8AC3E}">
        <p14:creationId xmlns:p14="http://schemas.microsoft.com/office/powerpoint/2010/main" val="968161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D1785-A2DB-4E50-80B7-671A157B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95DDEE-B0B3-4552-A8F9-A40ACABB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99DA6-DCF6-4AD7-92F0-95E582A3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Training makes secure behavior repeatable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78B8E-BE43-4EF2-9DA5-C5812849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0f2dd42bb4150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1B9B6-0B9F-45A4-B0A7-1F1AA1B6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F2A7C-69F1-443A-9B9D-86C2410B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A6AD0-6ECE-4CAE-911A-B9884CC4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36385-4B76-4D05-975E-BB2C0520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TRAINING &amp; ENABLEMENT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449F1-A009-4881-B0DF-A3A4C459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83B"/>
                </a:solidFill>
              </a:defRPr>
            </a:pPr>
            <a:r>
              <a:rPr sz="1650" b="1">
                <a:solidFill>
                  <a:srgbClr val="D6A83B"/>
                </a:solidFill>
              </a:rPr>
              <a:t>LEADERS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BE699-2CD1-4138-9860-D8AA63E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AI governance, risk ownership, oversight, and decision responsibilities.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78552-CD73-4EBD-B9E7-4E0BBFBB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6A373-0F59-429B-8DF1-EAA2E7C0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83B"/>
                </a:solidFill>
              </a:defRPr>
            </a:pPr>
            <a:r>
              <a:rPr sz="1650" b="1">
                <a:solidFill>
                  <a:srgbClr val="D6A83B"/>
                </a:solidFill>
              </a:rPr>
              <a:t>ADMINISTRATORS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79B98-4410-43A4-95DF-EBA8C39C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47925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Data-security controls, policy operations, investigation, and reporting.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7970B8-FFCA-4FDD-9261-6A2A0884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67075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A7B2F-3B1C-46AE-8C47-0CC68285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83B"/>
                </a:solidFill>
              </a:defRPr>
            </a:pPr>
            <a:r>
              <a:rPr sz="1650" b="1">
                <a:solidFill>
                  <a:srgbClr val="D6A83B"/>
                </a:solidFill>
              </a:rPr>
              <a:t>EMPLOYEES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222E92-00F9-4B50-A5D1-68AA5B9C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Sensitive-data handling, responsible AI use, privacy, and safe collaboration.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A77E4F-8512-40F9-A7F2-D6B6108E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746AA-0D51-4018-BE6F-1D07A149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83B"/>
                </a:solidFill>
              </a:defRPr>
            </a:pPr>
            <a:r>
              <a:rPr sz="1650" b="1">
                <a:solidFill>
                  <a:srgbClr val="D6A83B"/>
                </a:solidFill>
              </a:rPr>
              <a:t>TEAMS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443192-2962-4B61-B0A8-D6BD301C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E9D3"/>
                </a:solidFill>
              </a:defRPr>
            </a:pPr>
            <a:r>
              <a:rPr sz="1425" b="0">
                <a:solidFill>
                  <a:srgbClr val="F4E9D3"/>
                </a:solidFill>
              </a:rPr>
              <a:t>Role-based workshops, tabletop scenarios, readiness sessions, and job aids.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6A76CA-91DD-43CE-9892-7B5CF715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76825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65585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96C67A-5A34-4C7F-9484-0C2D43C0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7AE29-40E0-4BEE-99AE-D70B4BF3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42FAE-0EE1-4F1F-A1C4-6460D2E3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Turn assessment findings into sustainable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0F43E-1CD6-408B-A147-E6DDB06B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d0a0ee11d4a4b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FF861-9790-46D0-B67F-6AD6AC94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09563-2C05-4D8B-9207-16252AC1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9098A-FFC6-442C-BAA0-6882E394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6AD3F-C9FF-40CF-B912-DF84625F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DATA &amp; AI READINESS ASSESSMENT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CD338-83FA-487D-832B-DD98DFE3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A83B"/>
                </a:solidFill>
              </a:defRPr>
            </a:pPr>
            <a:r>
              <a:rPr sz="2100" b="1">
                <a:solidFill>
                  <a:srgbClr val="D6A83B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4B8B5-921A-4411-8352-37231536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CAEA4-6AAD-4FF7-9110-0DAFC266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Confirm priorities, use cases, and data concerns.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0C76C-01EC-432F-A8C6-FA2A05B2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97167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F69E5-D36F-48CB-8B6C-C4182778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288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A83B"/>
                </a:solidFill>
              </a:defRPr>
            </a:pPr>
            <a:r>
              <a:rPr sz="2100" b="1">
                <a:solidFill>
                  <a:srgbClr val="D6A83B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8B74B-00F1-4AFF-9DE9-7EAB076B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ASSESS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E55B7-10F8-4DC6-B712-522037F0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5747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Review exposure, sharing, controls, and governance.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AEDB1-67B0-473A-8177-97B3DC2B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7167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83F73E-AE8F-489A-B81E-2F611877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288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A83B"/>
                </a:solidFill>
              </a:defRPr>
            </a:pPr>
            <a:r>
              <a:rPr sz="2100" b="1">
                <a:solidFill>
                  <a:srgbClr val="D6A83B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C44C27-ADE4-4ADB-9B95-36713BAD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PRIORITIZE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F99363-2883-467B-B97A-B193EA18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5747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Rank risks by mission impact, urgency, and effort.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1249D4-ADD7-4C0D-A13E-597DCA09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7167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8DA349-5D3A-4EEB-B7AB-0E89EC02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288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A83B"/>
                </a:solidFill>
              </a:defRPr>
            </a:pPr>
            <a:r>
              <a:rPr sz="2100" b="1">
                <a:solidFill>
                  <a:srgbClr val="D6A83B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B432F-2AB3-4DB2-A006-80E7E5EF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DELIVER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2E6434-3E33-41F9-B852-B03029FF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57475"/>
            <a:ext cx="2143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Provide findings, roadmap, and stakeholder briefing.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EAFD67-AD54-432D-AC43-7CCB44A3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B44F6-10BC-46C3-86C8-0E30546B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6A83B"/>
                </a:solidFill>
              </a:defRPr>
            </a:pPr>
            <a:r>
              <a:rPr sz="1275" b="1">
                <a:solidFill>
                  <a:srgbClr val="D6A83B"/>
                </a:solidFill>
              </a:rPr>
              <a:t>FROM FINDINGS TO ADOPTION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55B0BE-B56D-4407-BC2F-37D9EA56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DESIGN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732340-C34C-4B30-BA9F-2C5AEE01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Define controls, governance, learning objectives, and success measures.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D2703-47A0-40DF-87F3-36265855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196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6A83B"/>
                </a:solidFill>
              </a:defRPr>
            </a:pPr>
            <a:r>
              <a:rPr sz="2250" b="1">
                <a:solidFill>
                  <a:srgbClr val="D6A83B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0053B9-CC30-4D1F-AB0E-6811DE4A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48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ENABLE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40FF14-EB52-47FC-BC8E-81681581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010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Implement prioritized improvements and deliver role-based training.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304A13-4824-4BA7-A6E9-BE46B2D3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196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6A83B"/>
                </a:solidFill>
              </a:defRPr>
            </a:pPr>
            <a:r>
              <a:rPr sz="2250" b="1">
                <a:solidFill>
                  <a:srgbClr val="D6A83B"/>
                </a:solidFill>
              </a:rPr>
              <a:t>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BDDD-61BE-4391-B047-CF1F53B6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48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SUSTAIN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9C4231-583E-425D-B6DB-7EA06E38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010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4E9D3"/>
                </a:solidFill>
              </a:defRPr>
            </a:pPr>
            <a:r>
              <a:rPr sz="1275" b="0">
                <a:solidFill>
                  <a:srgbClr val="F4E9D3"/>
                </a:solidFill>
              </a:rPr>
              <a:t>Measure adoption, review risk, and strengthen governance over time.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B0282D-DD61-4AD1-87F0-519C931A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DF8"/>
                </a:solidFill>
              </a:defRPr>
            </a:pPr>
            <a:r>
              <a:rPr sz="1425" b="1">
                <a:solidFill>
                  <a:srgbClr val="FFFDF8"/>
                </a:solidFill>
              </a:rPr>
              <a:t>Deliverables: risk summary • prioritized recommendations • implementation roadmap • leadership briefing</a:t>
            </a:r>
          </a:p>
        </p:txBody>
      </p:sp>
    </p:spTree>
    <p:extLst>
      <p:ext uri="{BB962C8B-B14F-4D97-AF65-F5344CB8AC3E}">
        <p14:creationId xmlns:p14="http://schemas.microsoft.com/office/powerpoint/2010/main" val="9880772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37C467-DB99-4D5D-B6A1-533A60F6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E791A-B3E7-4068-8215-C42530C0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1A689-DD6F-4E7E-A138-BBD05326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Specialist focus enables sustainable adoption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01FF5-FAC6-4716-9FA1-6165085C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bbe0c177a406c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AFD62-AA26-4895-B26B-1AD3DFBB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A4F98-8DDB-4634-8E7B-DB4EB446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A7605-E68C-4E37-A6BA-6A27295A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C070D-AE3D-4005-A0F2-BB0BE20D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A83B"/>
                </a:solidFill>
              </a:defRPr>
            </a:pPr>
            <a:r>
              <a:rPr sz="1950" b="1">
                <a:solidFill>
                  <a:srgbClr val="D6A83B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55149-BA7A-4AB4-92FF-812ACE32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DATA-BEFORE-AI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8B92E-E86A-4EDE-8BC2-D18BF9C7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We examine data exposure and governance before AI expands access.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FFA7C-EECA-49CD-9637-0495E0CC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97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B50A37-C3F5-4DBE-9607-FAD7E5B1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A83B"/>
                </a:solidFill>
              </a:defRPr>
            </a:pPr>
            <a:r>
              <a:rPr sz="1950" b="1">
                <a:solidFill>
                  <a:srgbClr val="D6A83B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99523-793D-4D61-86E0-EFBA0B67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241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CONTROL-TO-OUTCOME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EE4CF0-919A-44FB-8F6D-A8AA5923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2410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Recommendations connect directly to business and mission risk.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C3D86-47E3-4213-8C63-0B69D18F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241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901D2-194C-47CE-BCED-352EC67A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A83B"/>
                </a:solidFill>
              </a:defRPr>
            </a:pPr>
            <a:r>
              <a:rPr sz="1950" b="1">
                <a:solidFill>
                  <a:srgbClr val="D6A83B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8FC7A-CD0F-461A-A0FC-3FC6262A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385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PEOPLE-IN-THE-LOOP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0A9E7-2E67-4BBF-B085-6F690695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Training is built into delivery—not treated as an afterthought.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7EC7F9-6AA3-4089-BB83-024C3FE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385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3306B1-7F2B-4565-9224-E6C71881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A83B"/>
                </a:solidFill>
              </a:defRPr>
            </a:pPr>
            <a:r>
              <a:rPr sz="1950" b="1">
                <a:solidFill>
                  <a:srgbClr val="D6A83B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3B9D80-ABE2-4103-9989-56C1BE30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529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CLEAR COMMUNICATION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087F07-80BB-4DE0-98F9-DA728D68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Leaders receive direct findings, priorities, and next steps.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5835C2-F028-465D-9E0A-786EBB56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529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A07F0-8968-4E99-BFF3-50CCBDE6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A83B"/>
                </a:solidFill>
              </a:defRPr>
            </a:pPr>
            <a:r>
              <a:rPr sz="1950" b="1">
                <a:solidFill>
                  <a:srgbClr val="D6A83B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3CBE9-7DD2-456B-96AC-606D58F6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67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</a:defRPr>
            </a:pPr>
            <a:r>
              <a:rPr sz="1500" b="1">
                <a:solidFill>
                  <a:srgbClr val="FFFDF8"/>
                </a:solidFill>
              </a:rPr>
              <a:t>SUSTAINABLE GOVERNANCE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756F01-3C88-402C-9634-4B30BF63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638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Controls and policies are designed for ongoing ownership.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FB8A10-21DE-46BB-B1E4-D4E32272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673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648262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25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BD9D8-740D-4126-9511-5C424F14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B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D6AF2-C5D9-458A-BC5D-E9C0C603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E8ACF-96B7-4EFC-A312-56C2090D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919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DF8"/>
                </a:solidFill>
              </a:defRPr>
            </a:pPr>
            <a:r>
              <a:rPr sz="2550" b="1">
                <a:solidFill>
                  <a:srgbClr val="FFFDF8"/>
                </a:solidFill>
              </a:rPr>
              <a:t>Begin with a focused data and AI 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75301-54BE-429B-A5D9-371ED995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A83B"/>
                </a:solidFill>
              </a:defRPr>
            </a:pPr>
            <a:r>
              <a:rPr sz="975" b="1">
                <a:solidFill>
                  <a:srgbClr val="D6A83B"/>
                </a:solidFill>
              </a:rPr>
              <a:t>KARATIN LLC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50c9996ce94b2c"/>
          <a:stretch xmlns:a="http://schemas.openxmlformats.org/drawingml/2006/main"/>
        </p:blipFill>
        <p:spPr>
          <a:xfrm xmlns:a="http://schemas.openxmlformats.org/drawingml/2006/main">
            <a:off x="10172700" y="7620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F58A7-F441-4C24-94CA-1329429C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048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D4DC"/>
                </a:solidFill>
              </a:defRPr>
            </a:pPr>
            <a:r>
              <a:rPr sz="1200" b="1">
                <a:solidFill>
                  <a:srgbClr val="C8D4DC"/>
                </a:solidFill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510AC5-113F-4E0D-90B5-3038AD9B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4E9D3"/>
                </a:solidFill>
              </a:defRPr>
            </a:pPr>
            <a:r>
              <a:rPr sz="900" b="0">
                <a:solidFill>
                  <a:srgbClr val="F4E9D3"/>
                </a:solidFill>
              </a:rPr>
              <a:t>Data Security • Responsible AI • Compliance • Training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BC1870-2D71-49F9-ACA2-168B84CD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42937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4E9D3"/>
                </a:solidFill>
              </a:defRPr>
            </a:pPr>
            <a:r>
              <a:rPr sz="900" b="1">
                <a:solidFill>
                  <a:srgbClr val="F4E9D3"/>
                </a:solidFill>
              </a:rPr>
              <a:t>CAPABILITY BRIEFING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7EBD0-2C78-4D60-9B23-DB53B8EE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A83B"/>
                </a:solidFill>
              </a:defRPr>
            </a:pPr>
            <a:r>
              <a:rPr sz="1350" b="1">
                <a:solidFill>
                  <a:srgbClr val="D6A83B"/>
                </a:solidFill>
              </a:rPr>
              <a:t>CONTRACTING INFORMATION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C8234-75AA-46BC-A71B-19E01ECF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Legal name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5BBA2-6A25-430B-97AA-91DEEE52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DF8"/>
                </a:solidFill>
              </a:defRPr>
            </a:pPr>
            <a:r>
              <a:rPr sz="1650" b="1">
                <a:solidFill>
                  <a:srgbClr val="FFFDF8"/>
                </a:solidFill>
              </a:rPr>
              <a:t>Karatin LLC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FB5EE-F17F-41C4-8D6D-7384C439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UEI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E0511-948C-4CCB-89B0-5D19092C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EJGLFLLKUKK8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69DEAB-E474-4EF5-A4E5-216E7DF1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CAGE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25E31-99E8-4260-9A13-26074C94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DF8"/>
                </a:solidFill>
              </a:defRPr>
            </a:pPr>
            <a:r>
              <a:rPr sz="1575" b="0">
                <a:solidFill>
                  <a:srgbClr val="FFFDF8"/>
                </a:solidFill>
              </a:rPr>
              <a:t>Available upon request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7DB169-6428-4E9A-B661-1D6A526D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6A83B"/>
                </a:solidFill>
              </a:defRPr>
            </a:pPr>
            <a:r>
              <a:rPr sz="1125" b="1">
                <a:solidFill>
                  <a:srgbClr val="D6A83B"/>
                </a:solidFill>
              </a:rPr>
              <a:t>Business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CDAB9-626C-46A5-80C1-B87A09CB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DF8"/>
                </a:solidFill>
              </a:defRPr>
            </a:pPr>
            <a:r>
              <a:rPr sz="1575" b="1">
                <a:solidFill>
                  <a:srgbClr val="FFFDF8"/>
                </a:solidFill>
              </a:rPr>
              <a:t>Small Business  •  Women-Owned Business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B2F45E-DFF3-4483-BECA-AF959EE9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5143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53B5B"/>
          </a:solidFill>
          <a:ln xmlns:a="http://schemas.openxmlformats.org/drawingml/2006/main" w="9525">
            <a:solidFill>
              <a:srgbClr val="2E6F9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930C07-9074-43BB-9AFD-0FD99C01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6667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2FEE1-6E0B-41CE-B1B8-D350E4B6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57375"/>
            <a:ext cx="459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6A83B"/>
                </a:solidFill>
              </a:defRPr>
            </a:pPr>
            <a:r>
              <a:rPr sz="1800" b="1">
                <a:solidFill>
                  <a:srgbClr val="D6A83B"/>
                </a:solidFill>
              </a:rPr>
              <a:t>RECOMMENDED NEXT STEP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51497-50AF-4730-97B0-0504C937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14575"/>
            <a:ext cx="45910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Schedule a focused discussion about your data-security priorities, compliance obligations, AI plans, and workforce-training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admin@KaratinLLC.com</a:t>
            </a:r>
          </a:p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469-269-0784</a:t>
            </a:r>
          </a:p>
          <a:p xmlns:a="http://schemas.openxmlformats.org/drawingml/2006/main">
            <a:pPr algn="l">
              <a:defRPr sz="1350" b="0">
                <a:solidFill>
                  <a:srgbClr val="F4E9D3"/>
                </a:solidFill>
              </a:defRPr>
            </a:pPr>
            <a:r>
              <a:rPr sz="1350" b="0">
                <a:solidFill>
                  <a:srgbClr val="F4E9D3"/>
                </a:solidFill>
              </a:rPr>
              <a:t>www.KaratinLLC.com</a:t>
            </a:r>
          </a:p>
        </p:txBody>
      </p:sp>
    </p:spTree>
    <p:extLst>
      <p:ext uri="{BB962C8B-B14F-4D97-AF65-F5344CB8AC3E}">
        <p14:creationId xmlns:p14="http://schemas.microsoft.com/office/powerpoint/2010/main" val="7828552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2026-08-13T02:13:24.8750000Z</dcterms:created>
  <dcterms:modified xsi:type="dcterms:W3CDTF">2026-08-13T02:13:24.8750000Z</dcterms:modified>
</coreProperties>
</file>