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36208" y="0"/>
            <a:ext cx="5961888" cy="6858000"/>
          </a:xfrm>
          <a:prstGeom prst="rect">
            <a:avLst/>
          </a:prstGeom>
          <a:solidFill>
            <a:srgbClr val="F8F8F5"/>
          </a:solidFill>
          <a:ln w="7620">
            <a:solidFill>
              <a:srgbClr val="D7E0E6"/>
            </a:solidFill>
            <a:prstDash val="solid"/>
          </a:ln>
        </p:spPr>
      </p:sp>
      <p:pic>
        <p:nvPicPr>
          <p:cNvPr id="3" name="Image 0" descr="/mnt/data/diverse_team_collaborating_around_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08" y="0"/>
            <a:ext cx="5961888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364224" cy="6858000"/>
          </a:xfrm>
          <a:prstGeom prst="rect">
            <a:avLst/>
          </a:prstGeom>
          <a:solidFill>
            <a:srgbClr val="061528"/>
          </a:solidFill>
          <a:ln w="12700">
            <a:solidFill>
              <a:srgbClr val="06152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18504" y="0"/>
            <a:ext cx="54864" cy="6858000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02336" y="329184"/>
            <a:ext cx="1271016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/mnt/data/karatin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347472"/>
            <a:ext cx="1179576" cy="11704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640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D8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KARATIN LLC  |  CAPABILITY BRIEFING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188366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STAFFING &amp;</a:t>
            </a:r>
            <a:endParaRPr lang="en-US" sz="3500" dirty="0"/>
          </a:p>
        </p:txBody>
      </p:sp>
      <p:sp>
        <p:nvSpPr>
          <p:cNvPr id="10" name="Text 6"/>
          <p:cNvSpPr/>
          <p:nvPr/>
        </p:nvSpPr>
        <p:spPr>
          <a:xfrm>
            <a:off x="548640" y="2606040"/>
            <a:ext cx="56509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BC1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SPECIALIZED WORKFORCE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548640" y="323697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SOLUTIONS</a:t>
            </a:r>
            <a:endParaRPr lang="en-US" sz="3600" dirty="0"/>
          </a:p>
        </p:txBody>
      </p:sp>
      <p:sp>
        <p:nvSpPr>
          <p:cNvPr id="12" name="Shape 8"/>
          <p:cNvSpPr/>
          <p:nvPr/>
        </p:nvSpPr>
        <p:spPr>
          <a:xfrm>
            <a:off x="576072" y="4087368"/>
            <a:ext cx="1152144" cy="0"/>
          </a:xfrm>
          <a:prstGeom prst="line">
            <a:avLst/>
          </a:prstGeom>
          <a:noFill/>
          <a:ln w="50800">
            <a:solidFill>
              <a:srgbClr val="D8A83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6928" y="4325112"/>
            <a:ext cx="536752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7ED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talent for the work ahead — supported by expertise in data security, compliance, responsible AI, and training.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66928" y="6089904"/>
            <a:ext cx="5504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D8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FEDERAL   •   SLED   •   COMMERCIAL   •   PRIME TEAMING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74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KARATIN LLC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71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Staffing-first. Expertise-backed.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777240" cy="0"/>
          </a:xfrm>
          <a:prstGeom prst="line">
            <a:avLst/>
          </a:prstGeom>
          <a:noFill/>
          <a:ln w="38100">
            <a:solidFill>
              <a:srgbClr val="D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654710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BRIEFING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37960" y="6547104"/>
            <a:ext cx="5120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  |  COMPLIANCE  |  RESPONSIBLE AI  | 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71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Karatin helps organizations add the right professionals and strengthen the teams that carry critical work forward.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48640" y="2916936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support defined staffing requirements, project-based capacity, surge needs, and specialized delivery — directly or alongside prime contractors.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D8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WE SUPPORT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783080" cy="41148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5102352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Federal agencies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59736" y="5074920"/>
            <a:ext cx="1728216" cy="41148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510235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&amp; local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5968" y="5074920"/>
            <a:ext cx="1499616" cy="41148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510235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577840"/>
            <a:ext cx="2029968" cy="41148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560527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contractors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06624" y="5577840"/>
            <a:ext cx="1600200" cy="41148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25496" y="5605272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19672" y="1600200"/>
            <a:ext cx="4965192" cy="932688"/>
          </a:xfrm>
          <a:prstGeom prst="rect">
            <a:avLst/>
          </a:prstGeom>
          <a:solidFill>
            <a:srgbClr val="071D35"/>
          </a:solidFill>
          <a:ln w="12700">
            <a:solidFill>
              <a:srgbClr val="071D3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1600200"/>
            <a:ext cx="64008" cy="932688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709928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spc="30" kern="0" dirty="0">
                <a:solidFill>
                  <a:srgbClr val="EB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</a:t>
            </a:r>
            <a:endParaRPr lang="en-US" sz="1370" dirty="0"/>
          </a:p>
        </p:txBody>
      </p:sp>
      <p:sp>
        <p:nvSpPr>
          <p:cNvPr id="25" name="Text 23"/>
          <p:cNvSpPr/>
          <p:nvPr/>
        </p:nvSpPr>
        <p:spPr>
          <a:xfrm>
            <a:off x="6766560" y="20391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and specialized talent</a:t>
            </a:r>
            <a:endParaRPr lang="en-US" sz="1290" dirty="0"/>
          </a:p>
        </p:txBody>
      </p:sp>
      <p:sp>
        <p:nvSpPr>
          <p:cNvPr id="26" name="Shape 24"/>
          <p:cNvSpPr/>
          <p:nvPr/>
        </p:nvSpPr>
        <p:spPr>
          <a:xfrm>
            <a:off x="6519672" y="2688336"/>
            <a:ext cx="496519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9672" y="2688336"/>
            <a:ext cx="64008" cy="932688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798064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spc="30" kern="0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SECURITY &amp; COMPLIANCE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6766560" y="3127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Sensitive-data protection and governance</a:t>
            </a:r>
            <a:endParaRPr lang="en-US" sz="1290" dirty="0"/>
          </a:p>
        </p:txBody>
      </p:sp>
      <p:sp>
        <p:nvSpPr>
          <p:cNvPr id="30" name="Shape 28"/>
          <p:cNvSpPr/>
          <p:nvPr/>
        </p:nvSpPr>
        <p:spPr>
          <a:xfrm>
            <a:off x="6519672" y="3776472"/>
            <a:ext cx="496519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9672" y="3776472"/>
            <a:ext cx="64008" cy="932688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3886200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spc="30" kern="0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AI</a:t>
            </a:r>
            <a:endParaRPr lang="en-US" sz="1370" dirty="0"/>
          </a:p>
        </p:txBody>
      </p:sp>
      <p:sp>
        <p:nvSpPr>
          <p:cNvPr id="33" name="Text 31"/>
          <p:cNvSpPr/>
          <p:nvPr/>
        </p:nvSpPr>
        <p:spPr>
          <a:xfrm>
            <a:off x="6766560" y="42153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Risk-aware adoption and data readiness</a:t>
            </a:r>
            <a:endParaRPr lang="en-US" sz="1290" dirty="0"/>
          </a:p>
        </p:txBody>
      </p:sp>
      <p:sp>
        <p:nvSpPr>
          <p:cNvPr id="34" name="Shape 32"/>
          <p:cNvSpPr/>
          <p:nvPr/>
        </p:nvSpPr>
        <p:spPr>
          <a:xfrm>
            <a:off x="6519672" y="4864608"/>
            <a:ext cx="496519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19672" y="4864608"/>
            <a:ext cx="64008" cy="932688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4974336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spc="30" kern="0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370" dirty="0"/>
          </a:p>
        </p:txBody>
      </p:sp>
      <p:sp>
        <p:nvSpPr>
          <p:cNvPr id="37" name="Text 35"/>
          <p:cNvSpPr/>
          <p:nvPr/>
        </p:nvSpPr>
        <p:spPr>
          <a:xfrm>
            <a:off x="6766560" y="5303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transfer and enablement</a:t>
            </a:r>
            <a:endParaRPr lang="en-US" sz="12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74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KARATIN LLC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71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Representative staffing roles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777240" cy="0"/>
          </a:xfrm>
          <a:prstGeom prst="line">
            <a:avLst/>
          </a:prstGeom>
          <a:noFill/>
          <a:ln w="38100">
            <a:solidFill>
              <a:srgbClr val="D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654710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BRIEFING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37960" y="6547104"/>
            <a:ext cx="5120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  |  COMPLIANCE  |  RESPONSIBLE AI  | 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39496" y="145389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 is our lead service; technical, governance, project and training capabilities give buyers a more focused match.</a:t>
            </a:r>
            <a:endParaRPr lang="en-US" sz="1560" dirty="0"/>
          </a:p>
        </p:txBody>
      </p:sp>
      <p:sp>
        <p:nvSpPr>
          <p:cNvPr id="10" name="Shape 8"/>
          <p:cNvSpPr/>
          <p:nvPr/>
        </p:nvSpPr>
        <p:spPr>
          <a:xfrm>
            <a:off x="521208" y="2084832"/>
            <a:ext cx="3657600" cy="163677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" y="2084832"/>
            <a:ext cx="60350" cy="1636776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2494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71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&amp; Cloud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04088" y="2825496"/>
            <a:ext cx="3300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Administrator  •  Azure Engineer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/ Systems Engineer  •  Infrastructure Analyst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4352544" y="2084832"/>
            <a:ext cx="3657600" cy="163677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2544" y="2084832"/>
            <a:ext cx="60350" cy="1636776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424" y="22494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71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&amp; Business Platforms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535424" y="2825496"/>
            <a:ext cx="3300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365 Administrator  •  SharePoint Specialist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Systems Analyst  •  Applications Analyst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8183880" y="2084832"/>
            <a:ext cx="3657600" cy="163677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2084832"/>
            <a:ext cx="60350" cy="1636776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22494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71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Security, Data &amp; Compliance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366760" y="2825496"/>
            <a:ext cx="3300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Security Analyst  •  Governance Specialist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Analyst  •  Information Protection Specialist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521208" y="3913632"/>
            <a:ext cx="3657600" cy="163677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" y="3913632"/>
            <a:ext cx="60350" cy="1636776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40782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71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&amp; Program Delivery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04088" y="4654296"/>
            <a:ext cx="3300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Project Manager  •  PMO Analyst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Specialist  •  Technical Coordinator</a:t>
            </a:r>
            <a:endParaRPr lang="en-US" sz="1270" dirty="0"/>
          </a:p>
        </p:txBody>
      </p:sp>
      <p:sp>
        <p:nvSpPr>
          <p:cNvPr id="26" name="Shape 24"/>
          <p:cNvSpPr/>
          <p:nvPr/>
        </p:nvSpPr>
        <p:spPr>
          <a:xfrm>
            <a:off x="4352544" y="3913632"/>
            <a:ext cx="3657600" cy="163677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2544" y="3913632"/>
            <a:ext cx="60350" cy="1636776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35424" y="40782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71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&amp; Operations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4535424" y="4654296"/>
            <a:ext cx="3300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Desk Analyst  •  Technical Support Specialist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Analyst  •  Systems Support</a:t>
            </a:r>
            <a:endParaRPr lang="en-US" sz="1270" dirty="0"/>
          </a:p>
        </p:txBody>
      </p:sp>
      <p:sp>
        <p:nvSpPr>
          <p:cNvPr id="30" name="Shape 28"/>
          <p:cNvSpPr/>
          <p:nvPr/>
        </p:nvSpPr>
        <p:spPr>
          <a:xfrm>
            <a:off x="8183880" y="3913632"/>
            <a:ext cx="3657600" cy="163677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83880" y="3913632"/>
            <a:ext cx="60350" cy="1636776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40782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71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Workforce Enablement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366760" y="4654296"/>
            <a:ext cx="3300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 Advisor  •  Training Specialist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Designer  •  Adoption Lead</a:t>
            </a:r>
            <a:endParaRPr lang="en-US" sz="1270" dirty="0"/>
          </a:p>
        </p:txBody>
      </p:sp>
      <p:sp>
        <p:nvSpPr>
          <p:cNvPr id="34" name="Text 32"/>
          <p:cNvSpPr/>
          <p:nvPr/>
        </p:nvSpPr>
        <p:spPr>
          <a:xfrm>
            <a:off x="548640" y="59984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i="1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role families; positions, qualifications, screening and availability are aligned to each requirement.</a:t>
            </a:r>
            <a:endParaRPr lang="en-US" sz="11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74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KARATIN LLC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71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flexible staffing engagement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777240" cy="0"/>
          </a:xfrm>
          <a:prstGeom prst="line">
            <a:avLst/>
          </a:prstGeom>
          <a:noFill/>
          <a:ln w="38100">
            <a:solidFill>
              <a:srgbClr val="D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654710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BRIEFING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37960" y="6547104"/>
            <a:ext cx="5120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  |  COMPLIANCE  |  RESPONSIBLE AI  | 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straightforward process tailored to the buyer’s requirement and delivery environment.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221992"/>
            <a:ext cx="3675888" cy="240487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423160"/>
            <a:ext cx="676656" cy="676656"/>
          </a:xfrm>
          <a:prstGeom prst="ellipse">
            <a:avLst/>
          </a:prstGeom>
          <a:solidFill>
            <a:srgbClr val="071D35"/>
          </a:solidFill>
          <a:ln w="12700">
            <a:solidFill>
              <a:srgbClr val="071D3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4203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" y="3255264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740664" y="3694176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roles, scope, location, qualifications, schedule and contracting path.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233672" y="3090672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462272" y="2221992"/>
            <a:ext cx="3675888" cy="240487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5152" y="2423160"/>
            <a:ext cx="676656" cy="676656"/>
          </a:xfrm>
          <a:prstGeom prst="ellipse">
            <a:avLst/>
          </a:prstGeom>
          <a:solidFill>
            <a:srgbClr val="071D35"/>
          </a:solidFill>
          <a:ln w="12700">
            <a:solidFill>
              <a:srgbClr val="071D3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254203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54296" y="3255264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&amp; REVIEW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4654296" y="3694176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 the required skills, potential sourcing approach, screening, and candidate fit.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147304" y="3090672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375904" y="2221992"/>
            <a:ext cx="3675888" cy="240487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58784" y="2423160"/>
            <a:ext cx="676656" cy="676656"/>
          </a:xfrm>
          <a:prstGeom prst="ellipse">
            <a:avLst/>
          </a:prstGeom>
          <a:solidFill>
            <a:srgbClr val="071D35"/>
          </a:solidFill>
          <a:ln w="12700">
            <a:solidFill>
              <a:srgbClr val="071D3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58784" y="254203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67928" y="3255264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MOBILIZE &amp; SUPPORT</a:t>
            </a:r>
            <a:endParaRPr lang="en-US" sz="1480" dirty="0"/>
          </a:p>
        </p:txBody>
      </p:sp>
      <p:sp>
        <p:nvSpPr>
          <p:cNvPr id="26" name="Text 24"/>
          <p:cNvSpPr/>
          <p:nvPr/>
        </p:nvSpPr>
        <p:spPr>
          <a:xfrm>
            <a:off x="8567928" y="3694176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engagement terms, onboarding needs, communication and ongoing support.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557784" y="5029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D8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ENGAGEMENT FORMATS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2176272" cy="41148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546811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specialists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71216" y="5440680"/>
            <a:ext cx="2240280" cy="41148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0088" y="5468112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Project-based teams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257800" y="5440680"/>
            <a:ext cx="2176272" cy="41148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76672" y="546811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Surge augmentation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80376" y="5440680"/>
            <a:ext cx="2276856" cy="41148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99248" y="5468112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teaming support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099048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Mobilization and candidate timelines depend on role requirements, screening and availability; no fixed turnaround is implied.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74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KARATIN LLC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71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Supporting public and private missions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777240" cy="0"/>
          </a:xfrm>
          <a:prstGeom prst="line">
            <a:avLst/>
          </a:prstGeom>
          <a:noFill/>
          <a:ln w="38100">
            <a:solidFill>
              <a:srgbClr val="D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654710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BRIEFING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37960" y="6547104"/>
            <a:ext cx="5120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  |  COMPLIANCE  |  RESPONSIBLE AI  |  TRAINING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373368" y="1453896"/>
            <a:ext cx="5276088" cy="4526280"/>
          </a:xfrm>
          <a:prstGeom prst="rect">
            <a:avLst/>
          </a:prstGeom>
          <a:solidFill>
            <a:srgbClr val="F8F8F5"/>
          </a:solidFill>
          <a:ln w="7620">
            <a:solidFill>
              <a:srgbClr val="D7E0E6"/>
            </a:solidFill>
            <a:prstDash val="solid"/>
          </a:ln>
        </p:spPr>
      </p:sp>
      <p:pic>
        <p:nvPicPr>
          <p:cNvPr id="10" name="Image 0" descr="/mnt/data/professional_team_at_the_u.s._capit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3368" y="1453896"/>
            <a:ext cx="5276088" cy="4526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1591056"/>
            <a:ext cx="5431536" cy="117957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591056"/>
            <a:ext cx="59436" cy="1179576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" y="1737360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spc="30" kern="0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FEDERAL &amp; PRIME CONTRACTORS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722376" y="2066544"/>
            <a:ext cx="47823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staffing, defined work packages and subcontract support for mission requirements.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502920" y="2935224"/>
            <a:ext cx="5431536" cy="117957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2935224"/>
            <a:ext cx="59436" cy="1179576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376" y="3081528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spc="30" kern="0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STATE, LOCAL &amp; EDUCATION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722376" y="3410712"/>
            <a:ext cx="47823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for modernization, operations, governance, service delivery and workforce training.</a:t>
            </a:r>
            <a:endParaRPr lang="en-US" sz="1320" dirty="0"/>
          </a:p>
        </p:txBody>
      </p:sp>
      <p:sp>
        <p:nvSpPr>
          <p:cNvPr id="19" name="Shape 16"/>
          <p:cNvSpPr/>
          <p:nvPr/>
        </p:nvSpPr>
        <p:spPr>
          <a:xfrm>
            <a:off x="502920" y="4279392"/>
            <a:ext cx="5431536" cy="117957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4279392"/>
            <a:ext cx="59436" cy="1179576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2376" y="442569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spc="30" kern="0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ORGANIZATIONS</a:t>
            </a:r>
            <a:endParaRPr lang="en-US" sz="1280" dirty="0"/>
          </a:p>
        </p:txBody>
      </p:sp>
      <p:sp>
        <p:nvSpPr>
          <p:cNvPr id="22" name="Text 19"/>
          <p:cNvSpPr/>
          <p:nvPr/>
        </p:nvSpPr>
        <p:spPr>
          <a:xfrm>
            <a:off x="722376" y="4754880"/>
            <a:ext cx="47823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teams, business systems, project delivery and targeted specialist augmentation.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548640" y="6089904"/>
            <a:ext cx="11064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Buying path: customer procurement procedures, approved purchase channels or prime-contractor teaming, as applicable.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74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8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KARATIN LLC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security &amp; compliance expertise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777240" cy="0"/>
          </a:xfrm>
          <a:prstGeom prst="line">
            <a:avLst/>
          </a:prstGeom>
          <a:noFill/>
          <a:ln w="38100">
            <a:solidFill>
              <a:srgbClr val="D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F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654710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3C6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BRIEFING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37960" y="6547104"/>
            <a:ext cx="5120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B3C6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  |  COMPLIANCE  |  RESPONSIBLE AI  | 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30352" y="157276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B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SPECIALIZED TALENT + DEFINED DELIVERABLES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984248"/>
            <a:ext cx="5623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teams identify sensitive data, apply controls, prepare evidence and strengthen governance.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57784" y="3364992"/>
            <a:ext cx="100584" cy="100584"/>
          </a:xfrm>
          <a:prstGeom prst="ellipse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255264"/>
            <a:ext cx="5477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3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discovery, classification and sensitivity labeling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7784" y="3813048"/>
            <a:ext cx="100584" cy="100584"/>
          </a:xfrm>
          <a:prstGeom prst="ellipse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703320"/>
            <a:ext cx="5477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3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Loss Prevention, retention and records support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7784" y="4261104"/>
            <a:ext cx="100584" cy="100584"/>
          </a:xfrm>
          <a:prstGeom prst="ellipse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151376"/>
            <a:ext cx="5477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3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controls, audit evidence and remediation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7784" y="4709160"/>
            <a:ext cx="100584" cy="100584"/>
          </a:xfrm>
          <a:prstGeom prst="ellipse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599432"/>
            <a:ext cx="5477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3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365 data protection and collaboration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47104" y="1554480"/>
            <a:ext cx="4956048" cy="4370832"/>
          </a:xfrm>
          <a:prstGeom prst="rect">
            <a:avLst/>
          </a:prstGeom>
          <a:solidFill>
            <a:srgbClr val="173B5A"/>
          </a:solidFill>
          <a:ln w="12700">
            <a:solidFill>
              <a:srgbClr val="173B5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18470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D8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SPECIALISTS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03136" y="2304288"/>
            <a:ext cx="4407408" cy="512064"/>
          </a:xfrm>
          <a:prstGeom prst="rect">
            <a:avLst/>
          </a:prstGeom>
          <a:solidFill>
            <a:srgbClr val="224765"/>
          </a:solidFill>
          <a:ln w="12700">
            <a:solidFill>
              <a:srgbClr val="22476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04304" y="2395728"/>
            <a:ext cx="4087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Security Specialist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03136" y="2944368"/>
            <a:ext cx="4407408" cy="512064"/>
          </a:xfrm>
          <a:prstGeom prst="rect">
            <a:avLst/>
          </a:prstGeom>
          <a:solidFill>
            <a:srgbClr val="244C6D"/>
          </a:solidFill>
          <a:ln w="12700">
            <a:solidFill>
              <a:srgbClr val="244C6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3035808"/>
            <a:ext cx="4087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Protection Analyst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03136" y="3584448"/>
            <a:ext cx="4407408" cy="512064"/>
          </a:xfrm>
          <a:prstGeom prst="rect">
            <a:avLst/>
          </a:prstGeom>
          <a:solidFill>
            <a:srgbClr val="224765"/>
          </a:solidFill>
          <a:ln w="12700">
            <a:solidFill>
              <a:srgbClr val="22476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4304" y="3675888"/>
            <a:ext cx="4087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/ Governance Analyst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03136" y="4224528"/>
            <a:ext cx="4407408" cy="512064"/>
          </a:xfrm>
          <a:prstGeom prst="rect">
            <a:avLst/>
          </a:prstGeom>
          <a:solidFill>
            <a:srgbClr val="244C6D"/>
          </a:solidFill>
          <a:ln w="12700">
            <a:solidFill>
              <a:srgbClr val="244C6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04304" y="4315968"/>
            <a:ext cx="4087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365 Security Engineer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03136" y="4864608"/>
            <a:ext cx="4407408" cy="512064"/>
          </a:xfrm>
          <a:prstGeom prst="rect">
            <a:avLst/>
          </a:prstGeom>
          <a:solidFill>
            <a:srgbClr val="224765"/>
          </a:solidFill>
          <a:ln w="12700">
            <a:solidFill>
              <a:srgbClr val="22476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04304" y="4956048"/>
            <a:ext cx="4087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&amp; Retention Specialist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0" y="56144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i="1" dirty="0">
                <a:solidFill>
                  <a:srgbClr val="C9D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and role qualifications are tailored to customer needs.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74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KARATIN LLC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71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 adoption &amp; readiness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777240" cy="0"/>
          </a:xfrm>
          <a:prstGeom prst="line">
            <a:avLst/>
          </a:prstGeom>
          <a:noFill/>
          <a:ln w="38100">
            <a:solidFill>
              <a:srgbClr val="D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654710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BRIEFING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37960" y="6547104"/>
            <a:ext cx="5120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  |  COMPLIANCE  |  RESPONSIBLE AI  | 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71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AI adoption starts with secure data, clear ownership and practical guardrails.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365760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50592"/>
            <a:ext cx="3657600" cy="66751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2743200"/>
            <a:ext cx="603504" cy="603504"/>
          </a:xfrm>
          <a:prstGeom prst="ellipse">
            <a:avLst/>
          </a:prstGeom>
          <a:solidFill>
            <a:srgbClr val="071D35"/>
          </a:solidFill>
          <a:ln w="12700">
            <a:solidFill>
              <a:srgbClr val="071D3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86207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" y="3520440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BEFORE AI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768096" y="3968496"/>
            <a:ext cx="3218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Security Posture Management (DSPM) for AI; permission and oversharing reviews.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4434840" y="2450592"/>
            <a:ext cx="365760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2450592"/>
            <a:ext cx="3657600" cy="66751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5152" y="2743200"/>
            <a:ext cx="603504" cy="603504"/>
          </a:xfrm>
          <a:prstGeom prst="ellipse">
            <a:avLst/>
          </a:prstGeom>
          <a:solidFill>
            <a:srgbClr val="071D35"/>
          </a:solidFill>
          <a:ln w="12700">
            <a:solidFill>
              <a:srgbClr val="071D3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286207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54296" y="3520440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&amp; CONTROLS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4654296" y="3968496"/>
            <a:ext cx="3218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Acceptable-use guidance, roles, review points, risk escalation and policy guardrails.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8321040" y="2450592"/>
            <a:ext cx="365760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2450592"/>
            <a:ext cx="3657600" cy="66751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31352" y="2743200"/>
            <a:ext cx="603504" cy="603504"/>
          </a:xfrm>
          <a:prstGeom prst="ellipse">
            <a:avLst/>
          </a:prstGeom>
          <a:solidFill>
            <a:srgbClr val="071D35"/>
          </a:solidFill>
          <a:ln w="12700">
            <a:solidFill>
              <a:srgbClr val="071D3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31352" y="286207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40496" y="3520440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&amp; ROLLOUT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8540496" y="3968496"/>
            <a:ext cx="3218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Use-case risk review, pilot preparation, user awareness and adoption support.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292840" cy="722376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543153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 roles: AI Governance Advisor  •  AI Readiness Analyst  •  Data Security Specialist  •  Adoption Lead</a:t>
            </a:r>
            <a:endParaRPr lang="en-US" sz="13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74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KARATIN LLC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71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&amp; workforce enablement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777240" cy="0"/>
          </a:xfrm>
          <a:prstGeom prst="line">
            <a:avLst/>
          </a:prstGeom>
          <a:noFill/>
          <a:ln w="38100">
            <a:solidFill>
              <a:srgbClr val="D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654710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BRIEFING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37960" y="6547104"/>
            <a:ext cx="5120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  |  COMPLIANCE  |  RESPONSIBLE AI  |  TRAINING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94576" y="1563624"/>
            <a:ext cx="4809744" cy="4489704"/>
          </a:xfrm>
          <a:prstGeom prst="rect">
            <a:avLst/>
          </a:prstGeom>
          <a:solidFill>
            <a:srgbClr val="F8F8F5"/>
          </a:solidFill>
          <a:ln w="7620">
            <a:solidFill>
              <a:srgbClr val="D7E0E6"/>
            </a:solidFill>
            <a:prstDash val="solid"/>
          </a:ln>
        </p:spPr>
      </p:sp>
      <p:pic>
        <p:nvPicPr>
          <p:cNvPr id="10" name="Image 0" descr="/mnt/data/inclusive_corporate_training_s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563624"/>
            <a:ext cx="4809744" cy="44897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7784" y="1618488"/>
            <a:ext cx="596188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capability that stays with the customer team.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48640" y="2679192"/>
            <a:ext cx="58795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679192"/>
            <a:ext cx="64008" cy="822960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" y="2779776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758952" y="3035808"/>
            <a:ext cx="5321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ownership, program oversight and responsible AI decisions.</a:t>
            </a:r>
            <a:endParaRPr lang="en-US" sz="1290" dirty="0"/>
          </a:p>
        </p:txBody>
      </p:sp>
      <p:sp>
        <p:nvSpPr>
          <p:cNvPr id="16" name="Shape 13"/>
          <p:cNvSpPr/>
          <p:nvPr/>
        </p:nvSpPr>
        <p:spPr>
          <a:xfrm>
            <a:off x="548640" y="3639312"/>
            <a:ext cx="58795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3639312"/>
            <a:ext cx="64008" cy="822960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" y="3739896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ADMINISTRATORS</a:t>
            </a:r>
            <a:endParaRPr lang="en-US" sz="1130" dirty="0"/>
          </a:p>
        </p:txBody>
      </p:sp>
      <p:sp>
        <p:nvSpPr>
          <p:cNvPr id="19" name="Text 16"/>
          <p:cNvSpPr/>
          <p:nvPr/>
        </p:nvSpPr>
        <p:spPr>
          <a:xfrm>
            <a:off x="758952" y="3995928"/>
            <a:ext cx="5321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Configuration, controls, governance operations and knowledge transfer.</a:t>
            </a:r>
            <a:endParaRPr lang="en-US" sz="1290" dirty="0"/>
          </a:p>
        </p:txBody>
      </p:sp>
      <p:sp>
        <p:nvSpPr>
          <p:cNvPr id="20" name="Shape 17"/>
          <p:cNvSpPr/>
          <p:nvPr/>
        </p:nvSpPr>
        <p:spPr>
          <a:xfrm>
            <a:off x="548640" y="4599432"/>
            <a:ext cx="58795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4599432"/>
            <a:ext cx="64008" cy="822960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" y="4700016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USERS &amp; TEAMS</a:t>
            </a:r>
            <a:endParaRPr lang="en-US" sz="1130" dirty="0"/>
          </a:p>
        </p:txBody>
      </p:sp>
      <p:sp>
        <p:nvSpPr>
          <p:cNvPr id="23" name="Text 20"/>
          <p:cNvSpPr/>
          <p:nvPr/>
        </p:nvSpPr>
        <p:spPr>
          <a:xfrm>
            <a:off x="758952" y="4956048"/>
            <a:ext cx="5321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data handling, safe AI use, workflows and adoption.</a:t>
            </a:r>
            <a:endParaRPr lang="en-US" sz="1290" dirty="0"/>
          </a:p>
        </p:txBody>
      </p:sp>
      <p:sp>
        <p:nvSpPr>
          <p:cNvPr id="24" name="Text 21"/>
          <p:cNvSpPr/>
          <p:nvPr/>
        </p:nvSpPr>
        <p:spPr>
          <a:xfrm>
            <a:off x="566928" y="5788152"/>
            <a:ext cx="57515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 may include workshops, job aids, playbooks, documentation and guided handoff sessions.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74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17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KARATIN LLC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71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distinguishes Karatin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777240" cy="0"/>
          </a:xfrm>
          <a:prstGeom prst="line">
            <a:avLst/>
          </a:prstGeom>
          <a:noFill/>
          <a:ln w="38100">
            <a:solidFill>
              <a:srgbClr val="D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654710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BRIEFING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37960" y="6547104"/>
            <a:ext cx="5120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68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  |  COMPLIANCE  |  RESPONSIBLE AI  | 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7784" y="1508760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 with specialized domain understanding and a practical delivery mindset.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553212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48840"/>
            <a:ext cx="68580" cy="1426464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340864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RISK RESPONSE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758952" y="2788920"/>
            <a:ext cx="5084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support when organizations need additional capacity or specialized attention.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6318504" y="2148840"/>
            <a:ext cx="553212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18504" y="2148840"/>
            <a:ext cx="68580" cy="1426464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2340864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LEARN-IN-THE-FLOW TRAINING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6528816" y="2788920"/>
            <a:ext cx="5084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and knowledge transfer woven into project and staffing support.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548640" y="3767328"/>
            <a:ext cx="553212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67328"/>
            <a:ext cx="68580" cy="1426464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3959352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RETENTION-FOCUSED DELIVERY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758952" y="4407408"/>
            <a:ext cx="5084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Emphasis on fit, continuity and dependable follow-through; terms are engagement-specific.</a:t>
            </a:r>
            <a:endParaRPr lang="en-US" sz="1340" dirty="0"/>
          </a:p>
        </p:txBody>
      </p:sp>
      <p:sp>
        <p:nvSpPr>
          <p:cNvPr id="22" name="Shape 20"/>
          <p:cNvSpPr/>
          <p:nvPr/>
        </p:nvSpPr>
        <p:spPr>
          <a:xfrm>
            <a:off x="6318504" y="3767328"/>
            <a:ext cx="553212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18504" y="3767328"/>
            <a:ext cx="68580" cy="1426464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28816" y="3959352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07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BY DESIGN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6528816" y="4407408"/>
            <a:ext cx="5084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4C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Security, compliance and responsible-use considerations integrated into delivery.</a:t>
            </a:r>
            <a:endParaRPr lang="en-US" sz="1340" dirty="0"/>
          </a:p>
        </p:txBody>
      </p:sp>
      <p:sp>
        <p:nvSpPr>
          <p:cNvPr id="26" name="Shape 24"/>
          <p:cNvSpPr/>
          <p:nvPr/>
        </p:nvSpPr>
        <p:spPr>
          <a:xfrm>
            <a:off x="548640" y="5577840"/>
            <a:ext cx="11256264" cy="475488"/>
          </a:xfrm>
          <a:prstGeom prst="rect">
            <a:avLst/>
          </a:prstGeom>
          <a:solidFill>
            <a:srgbClr val="071D35"/>
          </a:solidFill>
          <a:ln w="12700">
            <a:solidFill>
              <a:srgbClr val="071D3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669280"/>
            <a:ext cx="1070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 by a senior professional with 25+ years of enterprise IT experience.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A83C"/>
          </a:solidFill>
          <a:ln w="12700">
            <a:solidFill>
              <a:srgbClr val="D8A83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" y="448056"/>
            <a:ext cx="1261872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/mnt/data/karatin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466344"/>
            <a:ext cx="1170432" cy="11704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65960" y="813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D8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KARATIN LLC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1920240"/>
            <a:ext cx="75529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build the right team.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03504" y="2862072"/>
            <a:ext cx="7150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 the roles, skills, timeframe and buying path that fit your requirement — including opportunities for specialized support in compliance, responsible AI and training.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4169664"/>
            <a:ext cx="1069848" cy="0"/>
          </a:xfrm>
          <a:prstGeom prst="line">
            <a:avLst/>
          </a:prstGeom>
          <a:noFill/>
          <a:ln w="50800">
            <a:solidFill>
              <a:srgbClr val="D8A8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4434840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spc="140" kern="0" dirty="0">
                <a:solidFill>
                  <a:srgbClr val="EB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TALENT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03504" y="49286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info@KaratinLLC.com  |  (469) 269-0784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03504" y="5440680"/>
            <a:ext cx="5852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B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www.KaratinLLC.com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0" y="1874520"/>
            <a:ext cx="3310128" cy="3913632"/>
          </a:xfrm>
          <a:prstGeom prst="rect">
            <a:avLst/>
          </a:prstGeom>
          <a:solidFill>
            <a:srgbClr val="173B5A"/>
          </a:solidFill>
          <a:ln w="12700">
            <a:solidFill>
              <a:srgbClr val="173B5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0" y="214884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D8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CONTRACTING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94776" y="267004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C0D1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UEI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8494776" y="29169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EJGLFLLKUKK8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494776" y="350215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C0D1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CAGE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8494776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23FF5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494776" y="4471416"/>
            <a:ext cx="28072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Business  |  Woman-Owned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494776" y="51297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EEA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NAICS: 541519 | 541512 | 541611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EEA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611420 | 561320 | 611430</a:t>
            </a:r>
            <a:endParaRPr lang="en-US" sz="1170" dirty="0"/>
          </a:p>
        </p:txBody>
      </p:sp>
      <p:sp>
        <p:nvSpPr>
          <p:cNvPr id="20" name="Text 17"/>
          <p:cNvSpPr/>
          <p:nvPr/>
        </p:nvSpPr>
        <p:spPr>
          <a:xfrm>
            <a:off x="576072" y="6464808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FC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  |  DATA SECURITY  |  COMPLIANCE  |  AI  |  TRAINING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Karatin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Karatin LLC | Capability Briefing - Staffing First</dc:title>
  <dc:subject>Staffing &amp; Specialized Workforce Solutions</dc:subject>
  <dc:creator>Karatin LLC</dc:creator>
  <cp:lastModifiedBy>Karatin LLC</cp:lastModifiedBy>
  <cp:revision>1</cp:revision>
  <dcterms:created xsi:type="dcterms:W3CDTF">2026-10-15T14:49:35Z</dcterms:created>
  <dcterms:modified xsi:type="dcterms:W3CDTF">2026-10-15T14:49:35Z</dcterms:modified>
</cp:coreProperties>
</file>